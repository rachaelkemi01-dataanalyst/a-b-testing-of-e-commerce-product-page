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1" r:id="rId9"/>
    <p:sldId id="262" r:id="rId10"/>
    <p:sldId id="263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2440-FCAE-40FE-B2F8-DFC2D6153D15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E4CC70-EBE6-484A-855B-5F6C12B17C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811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F81D049-EADD-4B61-8ECE-5640BC239A2D}" type="datetime1">
              <a:rPr lang="en-GB" smtClean="0"/>
              <a:t>23/06/2026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F96F7-CC3E-4CEF-8CF3-6D8B7677BA7F}" type="datetime1">
              <a:rPr lang="en-GB" smtClean="0"/>
              <a:t>23/06/2026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80DA2-BFFD-45F0-8609-BE6F4AE4A1D6}" type="datetime1">
              <a:rPr lang="en-GB" smtClean="0"/>
              <a:t>23/06/2026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2FE30-2181-4454-BEE4-B9B51846DEED}" type="datetime1">
              <a:rPr lang="en-GB" smtClean="0"/>
              <a:t>23/06/2026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19EA-B3FA-4A5C-BC72-69875EE72A76}" type="datetime1">
              <a:rPr lang="en-GB" smtClean="0"/>
              <a:t>23/06/2026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E3EF-4784-4052-9A4B-77C5C7D21D8A}" type="datetime1">
              <a:rPr lang="en-GB" smtClean="0"/>
              <a:t>23/06/2026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6E46-354F-4B76-AD28-90233223A80F}" type="datetime1">
              <a:rPr lang="en-GB" smtClean="0"/>
              <a:t>23/06/2026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CCD36-3871-4CA4-861E-D6D1B421DB59}" type="datetime1">
              <a:rPr lang="en-GB" smtClean="0"/>
              <a:t>23/06/2026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870C-D5CD-4F74-AFF7-F4FDFBB2DC0D}" type="datetime1">
              <a:rPr lang="en-GB" smtClean="0"/>
              <a:t>23/06/2026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17628-8841-42EB-8BA0-F48B761A1349}" type="datetime1">
              <a:rPr lang="en-GB" smtClean="0"/>
              <a:t>23/06/2026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2CB98-9128-4203-8516-F4CA78CFA2B7}" type="datetime1">
              <a:rPr lang="en-GB" smtClean="0"/>
              <a:t>23/06/2026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D730-EA4E-45D0-AE02-F4D5E297B380}" type="datetime1">
              <a:rPr lang="en-GB" smtClean="0"/>
              <a:t>23/06/2026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DC103-B30C-44CD-A267-E25C8330CD8F}" type="datetime1">
              <a:rPr lang="en-GB" smtClean="0"/>
              <a:t>23/06/2026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60AFE-4CB5-4A80-BB50-4E3940739840}" type="datetime1">
              <a:rPr lang="en-GB" smtClean="0"/>
              <a:t>23/06/2026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2FD6-2E8C-4FBD-B238-2B399A8DFF6B}" type="datetime1">
              <a:rPr lang="en-GB" smtClean="0"/>
              <a:t>23/06/2026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8A1C3-AAB0-49AC-A57A-8D0A5B5571AC}" type="datetime1">
              <a:rPr lang="en-GB" smtClean="0"/>
              <a:t>23/06/2026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88BA5-FB7E-4E44-9996-0F72080AF94C}" type="datetime1">
              <a:rPr lang="en-GB" smtClean="0"/>
              <a:t>23/06/2026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70A3501-322E-4261-8181-5402E306D537}" type="datetime1">
              <a:rPr lang="en-GB" smtClean="0"/>
              <a:t>23/06/2026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3200" dirty="0" smtClean="0">
                <a:latin typeface="Berlin Sans FB" panose="020E0602020502020306" pitchFamily="34" charset="0"/>
              </a:rPr>
              <a:t>AB TEST ANALYSIS OF AN E-COMMERCE PRODUCT PAGE REDESIGN</a:t>
            </a:r>
            <a:endParaRPr lang="en-GB" sz="3200" dirty="0">
              <a:latin typeface="Berlin Sans FB" panose="020E0602020502020306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6"/>
            <a:ext cx="6815669" cy="1652957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Z-test, Chi-square test ,Time Intelligence, Claude </a:t>
            </a:r>
            <a:r>
              <a:rPr lang="en-GB" dirty="0" err="1" smtClean="0"/>
              <a:t>a.i</a:t>
            </a:r>
            <a:r>
              <a:rPr lang="en-GB" dirty="0" smtClean="0"/>
              <a:t> and Microsoft </a:t>
            </a:r>
            <a:r>
              <a:rPr lang="en-GB" dirty="0" smtClean="0"/>
              <a:t>co-pilot</a:t>
            </a:r>
          </a:p>
          <a:p>
            <a:r>
              <a:rPr lang="en-GB" dirty="0" smtClean="0"/>
              <a:t>Prepared by Rachael </a:t>
            </a:r>
            <a:r>
              <a:rPr lang="en-GB" dirty="0" err="1" smtClean="0"/>
              <a:t>Agunloko</a:t>
            </a:r>
            <a:endParaRPr lang="en-GB" dirty="0" smtClean="0"/>
          </a:p>
          <a:p>
            <a:r>
              <a:rPr lang="en-GB" dirty="0" smtClean="0"/>
              <a:t>Job Title : </a:t>
            </a:r>
            <a:r>
              <a:rPr lang="en-GB" smtClean="0"/>
              <a:t>Data Analyst</a:t>
            </a:r>
            <a:endParaRPr lang="en-GB" dirty="0" smtClean="0"/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61289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0100" y="958362"/>
            <a:ext cx="10603523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>
                <a:latin typeface="Berlin Sans FB" panose="020E0602020502020306" pitchFamily="34" charset="0"/>
              </a:rPr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Bahnschrift SemiLight" panose="020B0502040204020203" pitchFamily="34" charset="0"/>
              </a:rPr>
              <a:t>A fictional online retail store wanted to promote sales of their product by redesigning the product page.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Bahnschrift SemiLight" panose="020B0502040204020203" pitchFamily="34" charset="0"/>
              </a:rPr>
              <a:t>The initial design (control group) is </a:t>
            </a:r>
            <a:r>
              <a:rPr lang="en-GB" sz="3200" dirty="0">
                <a:latin typeface="Bahnschrift SemiLight" panose="020B0502040204020203" pitchFamily="34" charset="0"/>
              </a:rPr>
              <a:t>blue CTA, standard </a:t>
            </a:r>
            <a:r>
              <a:rPr lang="en-GB" sz="3200" dirty="0" smtClean="0">
                <a:latin typeface="Bahnschrift SemiLight" panose="020B0502040204020203" pitchFamily="34" charset="0"/>
              </a:rPr>
              <a:t>layout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 smtClean="0">
                <a:latin typeface="Bahnschrift SemiLight" panose="020B0502040204020203" pitchFamily="34" charset="0"/>
              </a:rPr>
              <a:t>The new design (test group) is green CTA + social proof.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 smtClean="0">
                <a:latin typeface="Bahnschrift SemiLight" panose="020B0502040204020203" pitchFamily="34" charset="0"/>
              </a:rPr>
              <a:t>The retail store </a:t>
            </a:r>
            <a:r>
              <a:rPr lang="en-US" sz="3200" dirty="0">
                <a:latin typeface="Bahnschrift SemiLight" panose="020B0502040204020203" pitchFamily="34" charset="0"/>
              </a:rPr>
              <a:t>ran a 4-week A/B test (6 Jan – 2 Feb 2025) to measure whether a redesigned product page increased purchases.</a:t>
            </a:r>
            <a:endParaRPr lang="en-US" sz="3200" dirty="0" smtClean="0">
              <a:latin typeface="Bahnschrift SemiLight" panose="020B0502040204020203" pitchFamily="34" charset="0"/>
            </a:endParaRPr>
          </a:p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D1490-CF3B-42FE-BAA4-A9E3DD7B2C9C}" type="datetime1">
              <a:rPr lang="en-GB" smtClean="0"/>
              <a:t>23/06/2026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465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8554" y="844062"/>
            <a:ext cx="10568353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smtClean="0">
                <a:latin typeface="Berlin Sans FB" panose="020E0602020502020306" pitchFamily="34" charset="0"/>
              </a:rPr>
              <a:t>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Bahnschrift SemiLight" panose="020B0502040204020203" pitchFamily="34" charset="0"/>
              </a:rPr>
              <a:t>The statistical tools deployed for the ab testing experiment were python, pandas, matplotlib and seaborn.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Bahnschrift SemiLight" panose="020B0502040204020203" pitchFamily="34" charset="0"/>
              </a:rPr>
              <a:t>The primary metric is conversion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Bahnschrift SemiLight" panose="020B0502040204020203" pitchFamily="34" charset="0"/>
              </a:rPr>
              <a:t>The secondary metric is total revenue generated in USD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Bahnschrift SemiLight" panose="020B0502040204020203" pitchFamily="34" charset="0"/>
              </a:rPr>
              <a:t>Z-test was conducted to determine if conversion rate is statistically significant between the product pages.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Bahnschrift SemiLight" panose="020B0502040204020203" pitchFamily="34" charset="0"/>
              </a:rPr>
              <a:t>Chi-Square test was conducted to evaluate significant association between gender, device type and traffic source.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Bahnschrift SemiLight" panose="020B0502040204020203" pitchFamily="34" charset="0"/>
              </a:rPr>
              <a:t>Bar charts and line plots were deployed for visualisation.</a:t>
            </a:r>
            <a:endParaRPr lang="en-GB" sz="2800" dirty="0">
              <a:latin typeface="Bahnschrift SemiLight" panose="020B0502040204020203" pitchFamily="34" charset="0"/>
            </a:endParaRPr>
          </a:p>
          <a:p>
            <a:endParaRPr lang="en-GB" dirty="0" smtClean="0">
              <a:latin typeface="Berlin Sans FB" panose="020E0602020502020306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7AB0-4000-4ABD-A41D-1F1D7CF4EA95}" type="datetime1">
              <a:rPr lang="en-GB" smtClean="0"/>
              <a:t>23/06/2026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992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8215" y="773723"/>
            <a:ext cx="10823331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smtClean="0">
                <a:latin typeface="Berlin Sans FB" panose="020E0602020502020306" pitchFamily="34" charset="0"/>
              </a:rPr>
              <a:t>RESULTS AND DISCUSSION</a:t>
            </a:r>
          </a:p>
          <a:p>
            <a:endParaRPr lang="en-GB" dirty="0" smtClean="0"/>
          </a:p>
          <a:p>
            <a:r>
              <a:rPr lang="en-US" sz="2800" dirty="0" smtClean="0">
                <a:latin typeface="Bahnschrift SemiLight" panose="020B0502040204020203" pitchFamily="34" charset="0"/>
              </a:rPr>
              <a:t>A. HYPOTHESIS TESTING</a:t>
            </a:r>
            <a:endParaRPr lang="en-US" sz="2800" dirty="0">
              <a:latin typeface="Bahnschrift SemiLight" panose="020B0502040204020203" pitchFamily="34" charset="0"/>
            </a:endParaRPr>
          </a:p>
          <a:p>
            <a:r>
              <a:rPr lang="en-US" sz="2800" dirty="0">
                <a:latin typeface="Bahnschrift SemiLight" panose="020B0502040204020203" pitchFamily="34" charset="0"/>
              </a:rPr>
              <a:t>A</a:t>
            </a:r>
            <a:r>
              <a:rPr lang="en-US" sz="2800" dirty="0" smtClean="0">
                <a:latin typeface="Bahnschrift SemiLight" panose="020B0502040204020203" pitchFamily="34" charset="0"/>
              </a:rPr>
              <a:t>lpha </a:t>
            </a:r>
            <a:r>
              <a:rPr lang="en-US" sz="2800" dirty="0">
                <a:latin typeface="Bahnschrift SemiLight" panose="020B0502040204020203" pitchFamily="34" charset="0"/>
              </a:rPr>
              <a:t>or significance level is 0.05</a:t>
            </a:r>
          </a:p>
          <a:p>
            <a:r>
              <a:rPr lang="en-US" sz="2800" dirty="0">
                <a:latin typeface="Bahnschrift SemiLight" panose="020B0502040204020203" pitchFamily="34" charset="0"/>
              </a:rPr>
              <a:t>Null hypothesis: There is no </a:t>
            </a:r>
            <a:r>
              <a:rPr lang="en-US" sz="2800" dirty="0" smtClean="0">
                <a:latin typeface="Bahnschrift SemiLight" panose="020B0502040204020203" pitchFamily="34" charset="0"/>
              </a:rPr>
              <a:t>significant </a:t>
            </a:r>
            <a:r>
              <a:rPr lang="en-US" sz="2800" dirty="0">
                <a:latin typeface="Bahnschrift SemiLight" panose="020B0502040204020203" pitchFamily="34" charset="0"/>
              </a:rPr>
              <a:t>difference in conversion rate between control and test group</a:t>
            </a:r>
          </a:p>
          <a:p>
            <a:r>
              <a:rPr lang="en-US" sz="2800" dirty="0">
                <a:latin typeface="Bahnschrift SemiLight" panose="020B0502040204020203" pitchFamily="34" charset="0"/>
              </a:rPr>
              <a:t>Alternate hypothesis: The is significant difference in conversion </a:t>
            </a:r>
            <a:r>
              <a:rPr lang="en-US" sz="2800" dirty="0" smtClean="0">
                <a:latin typeface="Bahnschrift SemiLight" panose="020B0502040204020203" pitchFamily="34" charset="0"/>
              </a:rPr>
              <a:t>rate </a:t>
            </a:r>
            <a:r>
              <a:rPr lang="en-US" sz="2800" dirty="0">
                <a:latin typeface="Bahnschrift SemiLight" panose="020B0502040204020203" pitchFamily="34" charset="0"/>
              </a:rPr>
              <a:t>between control and test group</a:t>
            </a:r>
            <a:r>
              <a:rPr lang="en-US" sz="2800" dirty="0" smtClean="0">
                <a:latin typeface="Bahnschrift SemiLight" panose="020B0502040204020203" pitchFamily="34" charset="0"/>
              </a:rPr>
              <a:t>.</a:t>
            </a:r>
          </a:p>
          <a:p>
            <a:endParaRPr lang="en-US" sz="2800" dirty="0" smtClean="0">
              <a:latin typeface="Bahnschrift SemiLight" panose="020B0502040204020203" pitchFamily="34" charset="0"/>
            </a:endParaRPr>
          </a:p>
          <a:p>
            <a:r>
              <a:rPr lang="en-US" sz="2800" dirty="0" smtClean="0">
                <a:latin typeface="Bahnschrift SemiLight" panose="020B0502040204020203" pitchFamily="34" charset="0"/>
              </a:rPr>
              <a:t>Conclusion: </a:t>
            </a:r>
            <a:r>
              <a:rPr lang="en-US" sz="2800" dirty="0">
                <a:latin typeface="Bahnschrift SemiLight" panose="020B0502040204020203" pitchFamily="34" charset="0"/>
              </a:rPr>
              <a:t>Reject the null hypothesis: There is a significant difference in conversion rates between the control and treatment </a:t>
            </a:r>
            <a:r>
              <a:rPr lang="en-US" sz="2800" dirty="0" smtClean="0">
                <a:latin typeface="Bahnschrift SemiLight" panose="020B0502040204020203" pitchFamily="34" charset="0"/>
              </a:rPr>
              <a:t>groups at p-value of 0.0013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2C44E-6E8B-4785-AF01-C5143942C2D0}" type="datetime1">
              <a:rPr lang="en-GB" smtClean="0"/>
              <a:t>23/06/2026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681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6138" y="949569"/>
            <a:ext cx="10656277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latin typeface="Berlin Sans FB" panose="020E0602020502020306" pitchFamily="34" charset="0"/>
              </a:rPr>
              <a:t>B</a:t>
            </a:r>
            <a:r>
              <a:rPr lang="en-GB" dirty="0" smtClean="0"/>
              <a:t>. </a:t>
            </a:r>
            <a:r>
              <a:rPr lang="en-GB" sz="2800" dirty="0" smtClean="0">
                <a:latin typeface="Berlin Sans FB" panose="020E0602020502020306" pitchFamily="34" charset="0"/>
              </a:rPr>
              <a:t>Chi-Square test</a:t>
            </a:r>
          </a:p>
          <a:p>
            <a:endParaRPr lang="en-GB" sz="2800" dirty="0" smtClean="0"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Bahnschrift SemiLight" panose="020B0502040204020203" pitchFamily="34" charset="0"/>
              </a:rPr>
              <a:t> Chi-square test was conducted between categorical column of gender, device and traffic source.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Bahnschrift SemiLight" panose="020B0502040204020203" pitchFamily="34" charset="0"/>
              </a:rPr>
              <a:t>There is no significant relationship between gender and device type, gender and traffic source and device type and traffic source.</a:t>
            </a:r>
          </a:p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C0690-BCDC-40B6-9BF6-1BEBEE62347E}" type="datetime1">
              <a:rPr lang="en-GB" smtClean="0"/>
              <a:t>23/06/2026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926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5268" y="1081453"/>
            <a:ext cx="104716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latin typeface="Berlin Sans FB" panose="020E0602020502020306" pitchFamily="34" charset="0"/>
              </a:rPr>
              <a:t>C. TIME INTELLIGENCE</a:t>
            </a:r>
          </a:p>
          <a:p>
            <a:r>
              <a:rPr lang="en-GB" dirty="0" smtClean="0">
                <a:latin typeface="Bahnschrift SemiLight" panose="020B0502040204020203" pitchFamily="34" charset="0"/>
              </a:rPr>
              <a:t>Line plot was deployed to determine revenue flow on a weekly basis across the product pages.</a:t>
            </a:r>
          </a:p>
          <a:p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573" y="1747519"/>
            <a:ext cx="4911236" cy="443347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088" y="1922128"/>
            <a:ext cx="4999158" cy="4084256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A684A-D281-4954-9F45-DDE912BBF63B}" type="datetime1">
              <a:rPr lang="en-GB" smtClean="0"/>
              <a:t>23/06/2026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825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9762" y="931985"/>
            <a:ext cx="1071782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Berlin Sans FB" panose="020E0602020502020306" pitchFamily="34" charset="0"/>
              </a:rPr>
              <a:t>D</a:t>
            </a:r>
            <a:r>
              <a:rPr lang="en-GB" sz="2400" dirty="0" smtClean="0">
                <a:latin typeface="Berlin Sans FB" panose="020E0602020502020306" pitchFamily="34" charset="0"/>
              </a:rPr>
              <a:t>. DESCRIPTIVE STATISTICS</a:t>
            </a:r>
          </a:p>
          <a:p>
            <a:pPr marL="400050" indent="-400050">
              <a:buFont typeface="+mj-lt"/>
              <a:buAutoNum type="romanUcPeriod"/>
            </a:pPr>
            <a:r>
              <a:rPr lang="en-GB" dirty="0" smtClean="0">
                <a:latin typeface="Bahnschrift SemiLight" panose="020B0502040204020203" pitchFamily="34" charset="0"/>
              </a:rPr>
              <a:t>Comparing difference in total revenue between control and test design.</a:t>
            </a:r>
          </a:p>
          <a:p>
            <a:r>
              <a:rPr lang="en-GB" dirty="0" smtClean="0">
                <a:latin typeface="Bahnschrift SemiLight" panose="020B0502040204020203" pitchFamily="34" charset="0"/>
              </a:rPr>
              <a:t>As shown in the bar chart below, test design denoted by B has a total revenue of $23,819.25, while the control design has revenue of $18,867.45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954" y="2502636"/>
            <a:ext cx="4910870" cy="3695942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33BB2-BA50-4F55-95C4-61B46EC618F7}" type="datetime1">
              <a:rPr lang="en-GB" smtClean="0"/>
              <a:t>23/06/2026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385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9762" y="931985"/>
            <a:ext cx="10717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latin typeface="Bahnschrift SemiLight" panose="020B0502040204020203" pitchFamily="34" charset="0"/>
              </a:rPr>
              <a:t>II. Comparing difference in total revenue by gender between control and test design.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257" y="2022231"/>
            <a:ext cx="5047152" cy="422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592" y="2022231"/>
            <a:ext cx="4870939" cy="3973985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ED456-0F76-481D-A4E9-73948B6101F3}" type="datetime1">
              <a:rPr lang="en-GB" smtClean="0"/>
              <a:t>23/06/2026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935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9762" y="931985"/>
            <a:ext cx="10717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latin typeface="Bahnschrift SemiLight" panose="020B0502040204020203" pitchFamily="34" charset="0"/>
              </a:rPr>
              <a:t>III. Comparing difference in total revenue by device type between control and test design.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33" y="1477164"/>
            <a:ext cx="5152659" cy="43873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082" y="1477165"/>
            <a:ext cx="5034695" cy="4387306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3175C-F0C7-4F51-ADAA-AA00DD02EF94}" type="datetime1">
              <a:rPr lang="en-GB" smtClean="0"/>
              <a:t>23/06/2026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705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9762" y="931985"/>
            <a:ext cx="10717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latin typeface="Bahnschrift SemiLight" panose="020B0502040204020203" pitchFamily="34" charset="0"/>
              </a:rPr>
              <a:t>IV. Comparing difference in total revenue by traffic source between control and test design</a:t>
            </a:r>
            <a:r>
              <a:rPr lang="en-GB" dirty="0" smtClean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876" y="1635369"/>
            <a:ext cx="5139469" cy="43543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984" y="1408586"/>
            <a:ext cx="4659923" cy="458117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F072-4E4B-46C0-A378-EDA51281F7FB}" type="datetime1">
              <a:rPr lang="en-GB" smtClean="0"/>
              <a:t>23/06/2026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792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6E46-354F-4B76-AD28-90233223A80F}" type="datetime1">
              <a:rPr lang="en-GB" smtClean="0"/>
              <a:t>23/06/2026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56138" y="923192"/>
            <a:ext cx="10330962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smtClean="0">
                <a:latin typeface="Berlin Sans FB" panose="020E0602020502020306" pitchFamily="34" charset="0"/>
              </a:rPr>
              <a:t>CONCLUSION AND RECOMMENDATION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Bahnschrift SemiLight" panose="020B0502040204020203" pitchFamily="34" charset="0"/>
              </a:rPr>
              <a:t>The online retail store should progress in adopting the new test design since there is significant difference in conversion rate and total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Bahnschrift SemiLight" panose="020B0502040204020203" pitchFamily="34" charset="0"/>
              </a:rPr>
              <a:t>The online retail store should increase mobile accessibility and features since there is greater revenue from mobile users as seen on page 9.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Bahnschrift SemiLight" panose="020B0502040204020203" pitchFamily="34" charset="0"/>
              </a:rPr>
              <a:t>It was observed that revenue dropped from week 1-3, increased from 3 -4 and started declining from week 5 as shown in page 6. There is need for further analysis to determine factors responsible for fluctuations in revenue generated.</a:t>
            </a:r>
            <a:endParaRPr lang="en-GB" sz="2800" dirty="0"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6264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797</TotalTime>
  <Words>519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Bahnschrift SemiLight</vt:lpstr>
      <vt:lpstr>Berlin Sans FB</vt:lpstr>
      <vt:lpstr>Calibri</vt:lpstr>
      <vt:lpstr>Garamond</vt:lpstr>
      <vt:lpstr>Organic</vt:lpstr>
      <vt:lpstr>AB TEST ANALYSIS OF AN E-COMMERCE PRODUCT PAGE REDESIGN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 TEST ANALYSIS OF AN E-COMMERCE PRODUCT PAGE REDESIGN</dc:title>
  <dc:creator>BMT NETWORKS</dc:creator>
  <cp:lastModifiedBy>BMT NETWORKS</cp:lastModifiedBy>
  <cp:revision>13</cp:revision>
  <dcterms:created xsi:type="dcterms:W3CDTF">2026-06-22T18:19:10Z</dcterms:created>
  <dcterms:modified xsi:type="dcterms:W3CDTF">2026-06-23T09:39:25Z</dcterms:modified>
</cp:coreProperties>
</file>